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deco-rect1"/>
          <p:cNvSpPr/>
          <p:nvPr/>
        </p:nvSpPr>
        <p:spPr>
          <a:xfrm>
            <a:off x="8572500" y="762000"/>
            <a:ext cx="3048000" cy="4381500"/>
          </a:xfrm>
          <a:prstGeom prst="rect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eco-rect2"/>
          <p:cNvSpPr/>
          <p:nvPr/>
        </p:nvSpPr>
        <p:spPr>
          <a:xfrm>
            <a:off x="9525000" y="1714500"/>
            <a:ext cx="2095500" cy="3238500"/>
          </a:xfrm>
          <a:prstGeom prst="rect">
            <a:avLst/>
          </a:prstGeom>
          <a:solidFill>
            <a:srgbClr val="0EA5E9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eco-rect3"/>
          <p:cNvSpPr/>
          <p:nvPr/>
        </p:nvSpPr>
        <p:spPr>
          <a:xfrm>
            <a:off x="10287000" y="1143000"/>
            <a:ext cx="1333500" cy="1905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adge-bg"/>
          <p:cNvSpPr/>
          <p:nvPr/>
        </p:nvSpPr>
        <p:spPr>
          <a:xfrm>
            <a:off x="571500" y="571500"/>
            <a:ext cx="1333500" cy="304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badge-text"/>
          <p:cNvSpPr txBox="1"/>
          <p:nvPr/>
        </p:nvSpPr>
        <p:spPr>
          <a:xfrm>
            <a:off x="571500" y="571500"/>
            <a:ext cx="13335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AI能力认证</a:t>
            </a:r>
          </a:p>
        </p:txBody>
      </p:sp>
      <p:sp>
        <p:nvSpPr>
          <p:cNvPr id="7" name="dsl:main-title|s=$title"/>
          <p:cNvSpPr txBox="1"/>
          <p:nvPr/>
        </p:nvSpPr>
        <p:spPr>
          <a:xfrm>
            <a:off x="571500" y="1714500"/>
            <a:ext cx="6667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noProof="1" spc="150">
                <a:solidFill>
                  <a:srgbClr val="FFFFFF"/>
                </a:solidFill>
                <a:latin typeface="Liter"/>
                <a:ea typeface="MiSans"/>
              </a:rPr>
              <a:t>AI中级工程师</a:t>
            </a:r>
          </a:p>
        </p:txBody>
      </p:sp>
      <p:sp>
        <p:nvSpPr>
          <p:cNvPr id="8" name="dsl:sub-title"/>
          <p:cNvSpPr txBox="1"/>
          <p:nvPr/>
        </p:nvSpPr>
        <p:spPr>
          <a:xfrm>
            <a:off x="571500" y="2428875"/>
            <a:ext cx="6667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FFFFF"/>
                </a:solidFill>
                <a:latin typeface="Liter"/>
                <a:ea typeface="MiSans"/>
              </a:rPr>
              <a:t>能力认证答辩</a:t>
            </a:r>
          </a:p>
        </p:txBody>
      </p:sp>
      <p:cxnSp>
        <p:nvCxnSpPr>
          <p:cNvPr id="9" name="dsl:divider"/>
          <p:cNvCxnSpPr/>
          <p:nvPr/>
        </p:nvCxnSpPr>
        <p:spPr>
          <a:xfrm>
            <a:off x="571500" y="3143250"/>
            <a:ext cx="1905000" cy="0"/>
          </a:xfrm>
          <a:prstGeom prst="straightConnector1">
            <a:avLst/>
          </a:prstGeom>
          <a:ln w="25400">
            <a:solidFill>
              <a:srgbClr val="0EA5E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info"/>
          <p:cNvSpPr txBox="1"/>
          <p:nvPr/>
        </p:nvSpPr>
        <p:spPr>
          <a:xfrm>
            <a:off x="571500" y="59055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Liter"/>
                <a:ea typeface="MiSans"/>
              </a:rPr>
              <a:t>答辩人：姓名    |    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deco"/>
          <p:cNvSpPr txBox="1"/>
          <p:nvPr/>
        </p:nvSpPr>
        <p:spPr>
          <a:xfrm>
            <a:off x="381000" y="1905000"/>
            <a:ext cx="3810000" cy="2857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6000" noProof="1" spc="300">
                <a:solidFill>
                  <a:srgbClr val="E2E8F0"/>
                </a:solidFill>
                <a:latin typeface="Liter"/>
                <a:ea typeface="MiSans"/>
              </a:rPr>
              <a:t>CONTENTS</a:t>
            </a:r>
          </a:p>
        </p:txBody>
      </p:sp>
      <p:sp>
        <p:nvSpPr>
          <p:cNvPr id="3" name="dsl:toc-title|s=$pageTitle"/>
          <p:cNvSpPr txBox="1"/>
          <p:nvPr/>
        </p:nvSpPr>
        <p:spPr>
          <a:xfrm>
            <a:off x="571500" y="571500"/>
            <a:ext cx="2857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MiSans"/>
              </a:rPr>
              <a:t>目录</a:t>
            </a:r>
          </a:p>
        </p:txBody>
      </p:sp>
      <p:cxnSp>
        <p:nvCxnSpPr>
          <p:cNvPr id="4" name="dsl:toc-divider"/>
          <p:cNvCxnSpPr/>
          <p:nvPr/>
        </p:nvCxnSpPr>
        <p:spPr>
          <a:xfrm>
            <a:off x="571500" y="1143000"/>
            <a:ext cx="571500" cy="0"/>
          </a:xfrm>
          <a:prstGeom prst="straightConnector1">
            <a:avLst/>
          </a:prstGeom>
          <a:ln w="38100">
            <a:solidFill>
              <a:srgbClr val="0EA5E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card1-bg"/>
          <p:cNvSpPr/>
          <p:nvPr/>
        </p:nvSpPr>
        <p:spPr>
          <a:xfrm>
            <a:off x="4381500" y="1428750"/>
            <a:ext cx="34290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ard1-accent"/>
          <p:cNvSpPr/>
          <p:nvPr/>
        </p:nvSpPr>
        <p:spPr>
          <a:xfrm>
            <a:off x="4381500" y="1428750"/>
            <a:ext cx="28575" cy="1905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card1-num|s=$number"/>
          <p:cNvSpPr txBox="1"/>
          <p:nvPr/>
        </p:nvSpPr>
        <p:spPr>
          <a:xfrm>
            <a:off x="4572000" y="161925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01</a:t>
            </a:r>
          </a:p>
        </p:txBody>
      </p:sp>
      <p:sp>
        <p:nvSpPr>
          <p:cNvPr id="8" name="dsl:card1-title|s=$subtitle"/>
          <p:cNvSpPr txBox="1"/>
          <p:nvPr/>
        </p:nvSpPr>
        <p:spPr>
          <a:xfrm>
            <a:off x="4572000" y="2143125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岗位认知</a:t>
            </a:r>
          </a:p>
        </p:txBody>
      </p:sp>
      <p:sp>
        <p:nvSpPr>
          <p:cNvPr id="9" name="dsl:card1-desc|s=$caption"/>
          <p:cNvSpPr txBox="1"/>
          <p:nvPr/>
        </p:nvSpPr>
        <p:spPr>
          <a:xfrm>
            <a:off x="4572000" y="2524125"/>
            <a:ext cx="3048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角色定位、核心职责、核心价值</a:t>
            </a:r>
          </a:p>
        </p:txBody>
      </p:sp>
      <p:sp>
        <p:nvSpPr>
          <p:cNvPr id="10" name="dsl:card2-bg"/>
          <p:cNvSpPr/>
          <p:nvPr/>
        </p:nvSpPr>
        <p:spPr>
          <a:xfrm>
            <a:off x="8191500" y="1428750"/>
            <a:ext cx="34290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ard2-accent"/>
          <p:cNvSpPr/>
          <p:nvPr/>
        </p:nvSpPr>
        <p:spPr>
          <a:xfrm>
            <a:off x="8191500" y="1428750"/>
            <a:ext cx="28575" cy="1905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2-num|s=$number"/>
          <p:cNvSpPr txBox="1"/>
          <p:nvPr/>
        </p:nvSpPr>
        <p:spPr>
          <a:xfrm>
            <a:off x="8382000" y="161925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02</a:t>
            </a:r>
          </a:p>
        </p:txBody>
      </p:sp>
      <p:sp>
        <p:nvSpPr>
          <p:cNvPr id="13" name="dsl:card2-title|s=$subtitle"/>
          <p:cNvSpPr txBox="1"/>
          <p:nvPr/>
        </p:nvSpPr>
        <p:spPr>
          <a:xfrm>
            <a:off x="8382000" y="2143125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AI能力提升</a:t>
            </a:r>
          </a:p>
        </p:txBody>
      </p:sp>
      <p:sp>
        <p:nvSpPr>
          <p:cNvPr id="14" name="dsl:card2-desc|s=$caption"/>
          <p:cNvSpPr txBox="1"/>
          <p:nvPr/>
        </p:nvSpPr>
        <p:spPr>
          <a:xfrm>
            <a:off x="8382000" y="2524125"/>
            <a:ext cx="3048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思维、技能、协作方式的转型</a:t>
            </a:r>
          </a:p>
        </p:txBody>
      </p:sp>
      <p:sp>
        <p:nvSpPr>
          <p:cNvPr id="15" name="dsl:card3-bg"/>
          <p:cNvSpPr/>
          <p:nvPr/>
        </p:nvSpPr>
        <p:spPr>
          <a:xfrm>
            <a:off x="4381500" y="3619500"/>
            <a:ext cx="34290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card3-accent"/>
          <p:cNvSpPr/>
          <p:nvPr/>
        </p:nvSpPr>
        <p:spPr>
          <a:xfrm>
            <a:off x="4381500" y="3619500"/>
            <a:ext cx="28575" cy="1905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card3-num|s=$number"/>
          <p:cNvSpPr txBox="1"/>
          <p:nvPr/>
        </p:nvSpPr>
        <p:spPr>
          <a:xfrm>
            <a:off x="4572000" y="38100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03</a:t>
            </a:r>
          </a:p>
        </p:txBody>
      </p:sp>
      <p:sp>
        <p:nvSpPr>
          <p:cNvPr id="18" name="dsl:card3-title|s=$subtitle"/>
          <p:cNvSpPr txBox="1"/>
          <p:nvPr/>
        </p:nvSpPr>
        <p:spPr>
          <a:xfrm>
            <a:off x="4572000" y="4333875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典型案例</a:t>
            </a:r>
          </a:p>
        </p:txBody>
      </p:sp>
      <p:sp>
        <p:nvSpPr>
          <p:cNvPr id="19" name="dsl:card3-desc|s=$caption"/>
          <p:cNvSpPr txBox="1"/>
          <p:nvPr/>
        </p:nvSpPr>
        <p:spPr>
          <a:xfrm>
            <a:off x="4572000" y="4714875"/>
            <a:ext cx="3048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项目全链路与能力映射</a:t>
            </a:r>
          </a:p>
        </p:txBody>
      </p:sp>
      <p:sp>
        <p:nvSpPr>
          <p:cNvPr id="20" name="dsl:card4-bg"/>
          <p:cNvSpPr/>
          <p:nvPr/>
        </p:nvSpPr>
        <p:spPr>
          <a:xfrm>
            <a:off x="8191500" y="3619500"/>
            <a:ext cx="34290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card4-accent"/>
          <p:cNvSpPr/>
          <p:nvPr/>
        </p:nvSpPr>
        <p:spPr>
          <a:xfrm>
            <a:off x="8191500" y="3619500"/>
            <a:ext cx="28575" cy="1905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card4-num|s=$number"/>
          <p:cNvSpPr txBox="1"/>
          <p:nvPr/>
        </p:nvSpPr>
        <p:spPr>
          <a:xfrm>
            <a:off x="8382000" y="38100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04</a:t>
            </a:r>
          </a:p>
        </p:txBody>
      </p:sp>
      <p:sp>
        <p:nvSpPr>
          <p:cNvPr id="23" name="dsl:card4-title|s=$subtitle"/>
          <p:cNvSpPr txBox="1"/>
          <p:nvPr/>
        </p:nvSpPr>
        <p:spPr>
          <a:xfrm>
            <a:off x="8382000" y="4333875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答辩交流</a:t>
            </a:r>
          </a:p>
        </p:txBody>
      </p:sp>
      <p:sp>
        <p:nvSpPr>
          <p:cNvPr id="24" name="dsl:card4-desc|s=$caption"/>
          <p:cNvSpPr txBox="1"/>
          <p:nvPr/>
        </p:nvSpPr>
        <p:spPr>
          <a:xfrm>
            <a:off x="8382000" y="4714875"/>
            <a:ext cx="3048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问答与讨论</a:t>
            </a:r>
          </a:p>
        </p:txBody>
      </p:sp>
      <p:sp>
        <p:nvSpPr>
          <p:cNvPr id="25" name="dsl:page-num|s=$caption"/>
          <p:cNvSpPr txBox="1"/>
          <p:nvPr/>
        </p:nvSpPr>
        <p:spPr>
          <a:xfrm>
            <a:off x="110490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cent"/>
          <p:cNvSpPr/>
          <p:nvPr/>
        </p:nvSpPr>
        <p:spPr>
          <a:xfrm>
            <a:off x="571500" y="361950"/>
            <a:ext cx="76200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1|s=$nav"/>
          <p:cNvSpPr txBox="1"/>
          <p:nvPr/>
        </p:nvSpPr>
        <p:spPr>
          <a:xfrm>
            <a:off x="5715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FFFFFF"/>
                </a:solidFill>
                <a:latin typeface="Liter"/>
                <a:ea typeface="MiSans"/>
              </a:rPr>
              <a:t>01 岗位认知</a:t>
            </a:r>
          </a:p>
        </p:txBody>
      </p:sp>
      <p:sp>
        <p:nvSpPr>
          <p:cNvPr id="5" name="dsl:nav-2|s=$nav"/>
          <p:cNvSpPr txBox="1"/>
          <p:nvPr/>
        </p:nvSpPr>
        <p:spPr>
          <a:xfrm>
            <a:off x="1905000" y="0"/>
            <a:ext cx="1333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02 AI能力提升</a:t>
            </a:r>
          </a:p>
        </p:txBody>
      </p:sp>
      <p:sp>
        <p:nvSpPr>
          <p:cNvPr id="6" name="dsl:nav-3|s=$nav"/>
          <p:cNvSpPr txBox="1"/>
          <p:nvPr/>
        </p:nvSpPr>
        <p:spPr>
          <a:xfrm>
            <a:off x="34290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03 典型案例</a:t>
            </a:r>
          </a:p>
        </p:txBody>
      </p:sp>
      <p:sp>
        <p:nvSpPr>
          <p:cNvPr id="7" name="dsl:nav-4|s=$nav"/>
          <p:cNvSpPr txBox="1"/>
          <p:nvPr/>
        </p:nvSpPr>
        <p:spPr>
          <a:xfrm>
            <a:off x="47625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04 答辩交流</a:t>
            </a:r>
          </a:p>
        </p:txBody>
      </p:sp>
      <p:sp>
        <p:nvSpPr>
          <p:cNvPr id="8" name="dsl:page-title|s=$pageTitle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MiSans"/>
              </a:rPr>
              <a:t>01 岗位认知</a:t>
            </a:r>
          </a:p>
        </p:txBody>
      </p:sp>
      <p:cxnSp>
        <p:nvCxnSpPr>
          <p:cNvPr id="9" name="dsl:title-line"/>
          <p:cNvCxnSpPr/>
          <p:nvPr/>
        </p:nvCxnSpPr>
        <p:spPr>
          <a:xfrm>
            <a:off x="571500" y="1047750"/>
            <a:ext cx="571500" cy="0"/>
          </a:xfrm>
          <a:prstGeom prst="straightConnector1">
            <a:avLst/>
          </a:prstGeom>
          <a:ln w="38100">
            <a:solidFill>
              <a:srgbClr val="0EA5E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card1-bg"/>
          <p:cNvSpPr/>
          <p:nvPr/>
        </p:nvSpPr>
        <p:spPr>
          <a:xfrm>
            <a:off x="571500" y="1238250"/>
            <a:ext cx="3429000" cy="323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ard1-bar"/>
          <p:cNvSpPr/>
          <p:nvPr/>
        </p:nvSpPr>
        <p:spPr>
          <a:xfrm>
            <a:off x="571500" y="1238250"/>
            <a:ext cx="28575" cy="32385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1-num|s=$number"/>
          <p:cNvSpPr txBox="1"/>
          <p:nvPr/>
        </p:nvSpPr>
        <p:spPr>
          <a:xfrm>
            <a:off x="762000" y="1428750"/>
            <a:ext cx="952500" cy="4476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01</a:t>
            </a:r>
          </a:p>
        </p:txBody>
      </p:sp>
      <p:sp>
        <p:nvSpPr>
          <p:cNvPr id="13" name="dsl:card1-title|s=$subtitle"/>
          <p:cNvSpPr txBox="1"/>
          <p:nvPr/>
        </p:nvSpPr>
        <p:spPr>
          <a:xfrm>
            <a:off x="762000" y="1952625"/>
            <a:ext cx="3048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1.1 角色定位</a:t>
            </a:r>
          </a:p>
        </p:txBody>
      </p:sp>
      <p:sp>
        <p:nvSpPr>
          <p:cNvPr id="14" name="dsl:card1-content|s=$body"/>
          <p:cNvSpPr txBox="1"/>
          <p:nvPr/>
        </p:nvSpPr>
        <p:spPr>
          <a:xfrm>
            <a:off x="762000" y="2333625"/>
            <a:ext cx="3048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能针对业务问题提出融合AI能力的可行架构与技术方案，深刻理解大模型边界，善于设计提示词、编排智能体并治理数据，营造团队AI学习与实验氛围，对AI应用进行总结，分享经验成果，研发出智能高效、客户满意度高、产品化程度高的AI原生架构并推广实施。</a:t>
            </a:r>
          </a:p>
        </p:txBody>
      </p:sp>
      <p:sp>
        <p:nvSpPr>
          <p:cNvPr id="15" name="dsl:card2-bg"/>
          <p:cNvSpPr/>
          <p:nvPr/>
        </p:nvSpPr>
        <p:spPr>
          <a:xfrm>
            <a:off x="4381500" y="1238250"/>
            <a:ext cx="3429000" cy="476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card2-bar"/>
          <p:cNvSpPr/>
          <p:nvPr/>
        </p:nvSpPr>
        <p:spPr>
          <a:xfrm>
            <a:off x="4381500" y="1238250"/>
            <a:ext cx="28575" cy="47625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card2-num|s=$number"/>
          <p:cNvSpPr txBox="1"/>
          <p:nvPr/>
        </p:nvSpPr>
        <p:spPr>
          <a:xfrm>
            <a:off x="4572000" y="1428750"/>
            <a:ext cx="952500" cy="4476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02</a:t>
            </a:r>
          </a:p>
        </p:txBody>
      </p:sp>
      <p:sp>
        <p:nvSpPr>
          <p:cNvPr id="18" name="dsl:card2-title|s=$subtitle"/>
          <p:cNvSpPr txBox="1"/>
          <p:nvPr/>
        </p:nvSpPr>
        <p:spPr>
          <a:xfrm>
            <a:off x="4572000" y="1952625"/>
            <a:ext cx="3048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1.2 核心职责</a:t>
            </a:r>
          </a:p>
        </p:txBody>
      </p:sp>
      <p:sp>
        <p:nvSpPr>
          <p:cNvPr id="19" name="dsl:card2-content|s=$body"/>
          <p:cNvSpPr txBox="1"/>
          <p:nvPr/>
        </p:nvSpPr>
        <p:spPr>
          <a:xfrm>
            <a:off x="4572000" y="2333625"/>
            <a:ext cx="3048000" cy="3429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以项目落地和公司效益为核心，主导AI原生应用的需求定义与架构编排，高效解决AI系统在数据、模型及输出稳定性方面的复杂难题。主动追踪前沿技术并评估其业务价值，致力于提升客户满意度。根据实战经验提炼可复用的设计规范与治理策略，指导团队从传统开发向AI编排转型，积极学习并推广契合AI工作流的研发基础设施，进一步提升团队整体的智能化交付效率与技术创新能力。</a:t>
            </a:r>
          </a:p>
        </p:txBody>
      </p:sp>
      <p:sp>
        <p:nvSpPr>
          <p:cNvPr id="20" name="dsl:card3-bg"/>
          <p:cNvSpPr/>
          <p:nvPr/>
        </p:nvSpPr>
        <p:spPr>
          <a:xfrm>
            <a:off x="8191500" y="1238250"/>
            <a:ext cx="3429000" cy="3524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card3-bar"/>
          <p:cNvSpPr/>
          <p:nvPr/>
        </p:nvSpPr>
        <p:spPr>
          <a:xfrm>
            <a:off x="8191500" y="1238250"/>
            <a:ext cx="28575" cy="35242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card3-num|s=$number"/>
          <p:cNvSpPr txBox="1"/>
          <p:nvPr/>
        </p:nvSpPr>
        <p:spPr>
          <a:xfrm>
            <a:off x="8382000" y="1428750"/>
            <a:ext cx="952500" cy="4476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03</a:t>
            </a:r>
          </a:p>
        </p:txBody>
      </p:sp>
      <p:sp>
        <p:nvSpPr>
          <p:cNvPr id="23" name="dsl:card3-title|s=$subtitle"/>
          <p:cNvSpPr txBox="1"/>
          <p:nvPr/>
        </p:nvSpPr>
        <p:spPr>
          <a:xfrm>
            <a:off x="8382000" y="1952625"/>
            <a:ext cx="3048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1.3 核心价值</a:t>
            </a:r>
          </a:p>
        </p:txBody>
      </p:sp>
      <p:sp>
        <p:nvSpPr>
          <p:cNvPr id="24" name="dsl:card3-content|s=$body"/>
          <p:cNvSpPr txBox="1"/>
          <p:nvPr/>
        </p:nvSpPr>
        <p:spPr>
          <a:xfrm>
            <a:off x="8382000" y="2333625"/>
            <a:ext cx="30480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将AI技术精准转化为可量化的业务增长与客户满意度提升，加速产品智能化迭代。为团队构建高复用AI设计模式与治理规范，显著降低试错成本，提升整体交付效率。为组织沉淀AI原生工程资产与最佳实践，形成差异化技术壁垒，支撑公司长期战略创新与持续竞争力。</a:t>
            </a:r>
          </a:p>
        </p:txBody>
      </p:sp>
      <p:sp>
        <p:nvSpPr>
          <p:cNvPr id="25" name="dsl:page-num|s=$caption"/>
          <p:cNvSpPr txBox="1"/>
          <p:nvPr/>
        </p:nvSpPr>
        <p:spPr>
          <a:xfrm>
            <a:off x="110490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cent"/>
          <p:cNvSpPr/>
          <p:nvPr/>
        </p:nvSpPr>
        <p:spPr>
          <a:xfrm>
            <a:off x="1905000" y="361950"/>
            <a:ext cx="95250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1|s=$nav"/>
          <p:cNvSpPr txBox="1"/>
          <p:nvPr/>
        </p:nvSpPr>
        <p:spPr>
          <a:xfrm>
            <a:off x="5715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01 岗位认知</a:t>
            </a:r>
          </a:p>
        </p:txBody>
      </p:sp>
      <p:sp>
        <p:nvSpPr>
          <p:cNvPr id="5" name="dsl:nav-2|s=$nav"/>
          <p:cNvSpPr txBox="1"/>
          <p:nvPr/>
        </p:nvSpPr>
        <p:spPr>
          <a:xfrm>
            <a:off x="1905000" y="0"/>
            <a:ext cx="1333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FFFFFF"/>
                </a:solidFill>
                <a:latin typeface="Liter"/>
                <a:ea typeface="MiSans"/>
              </a:rPr>
              <a:t>02 AI能力提升</a:t>
            </a:r>
          </a:p>
        </p:txBody>
      </p:sp>
      <p:sp>
        <p:nvSpPr>
          <p:cNvPr id="6" name="dsl:nav-3|s=$nav"/>
          <p:cNvSpPr txBox="1"/>
          <p:nvPr/>
        </p:nvSpPr>
        <p:spPr>
          <a:xfrm>
            <a:off x="34290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03 典型案例</a:t>
            </a:r>
          </a:p>
        </p:txBody>
      </p:sp>
      <p:sp>
        <p:nvSpPr>
          <p:cNvPr id="7" name="dsl:nav-4|s=$nav"/>
          <p:cNvSpPr txBox="1"/>
          <p:nvPr/>
        </p:nvSpPr>
        <p:spPr>
          <a:xfrm>
            <a:off x="47625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04 答辩交流</a:t>
            </a:r>
          </a:p>
        </p:txBody>
      </p:sp>
      <p:sp>
        <p:nvSpPr>
          <p:cNvPr id="8" name="dsl:page-title|s=$pageTitle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MiSans"/>
              </a:rPr>
              <a:t>02 AI能力提升</a:t>
            </a:r>
          </a:p>
        </p:txBody>
      </p:sp>
      <p:cxnSp>
        <p:nvCxnSpPr>
          <p:cNvPr id="9" name="dsl:title-line"/>
          <p:cNvCxnSpPr/>
          <p:nvPr/>
        </p:nvCxnSpPr>
        <p:spPr>
          <a:xfrm>
            <a:off x="571500" y="1047750"/>
            <a:ext cx="571500" cy="0"/>
          </a:xfrm>
          <a:prstGeom prst="straightConnector1">
            <a:avLst/>
          </a:prstGeom>
          <a:ln w="38100">
            <a:solidFill>
              <a:srgbClr val="0EA5E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left-content|s=$body"/>
          <p:cNvSpPr txBox="1"/>
          <p:nvPr/>
        </p:nvSpPr>
        <p:spPr>
          <a:xfrm>
            <a:off x="571500" y="1333500"/>
            <a:ext cx="66675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350" noProof="1">
                <a:solidFill>
                  <a:srgbClr val="1E293B"/>
                </a:solidFill>
                <a:latin typeface="Liter"/>
                <a:ea typeface="MiSans"/>
              </a:rPr>
              <a:t>本页待填写内容：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• 阐述个人在思维、技能、协作方式等方面为适应AI变革所采取的具体行动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• 简述参与AI工作/项目的经验历程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• 建议展示：技术学习路径、关键技能突破、团队协作方式转变等</a:t>
            </a:r>
          </a:p>
          <a:p>
            <a:pPr algn="l">
              <a:lnSpc>
                <a:spcPct val="160000"/>
              </a:lnSpc>
              <a:spcBef>
                <a:spcPts val="1800"/>
              </a:spcBef>
            </a:pPr>
            <a:r>
              <a:rPr sz="1350" noProof="1">
                <a:solidFill>
                  <a:srgbClr val="64748B"/>
                </a:solidFill>
                <a:latin typeface="Liter"/>
                <a:ea typeface="MiSans"/>
              </a:rPr>
              <a:t>提示：请在3-5分钟内完成岗位认知和AI能力提升的讲解呈现，重点放在典型项目的讲解。</a:t>
            </a:r>
          </a:p>
        </p:txBody>
      </p:sp>
      <p:sp>
        <p:nvSpPr>
          <p:cNvPr id="11" name="dsl:right-card-bg"/>
          <p:cNvSpPr/>
          <p:nvPr/>
        </p:nvSpPr>
        <p:spPr>
          <a:xfrm>
            <a:off x="7810500" y="1333500"/>
            <a:ext cx="3810000" cy="38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right-card-bar"/>
          <p:cNvSpPr/>
          <p:nvPr/>
        </p:nvSpPr>
        <p:spPr>
          <a:xfrm>
            <a:off x="7810500" y="1333500"/>
            <a:ext cx="28575" cy="3810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right-card-icon|i=fas:lightbulb" descr="tmprg9d71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0" y="16192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right-card-title|s=$subtitle"/>
          <p:cNvSpPr txBox="1"/>
          <p:nvPr/>
        </p:nvSpPr>
        <p:spPr>
          <a:xfrm>
            <a:off x="8096250" y="2143125"/>
            <a:ext cx="3238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填写建议</a:t>
            </a:r>
          </a:p>
        </p:txBody>
      </p:sp>
      <p:sp>
        <p:nvSpPr>
          <p:cNvPr id="15" name="dsl:right-card-content|s=$body"/>
          <p:cNvSpPr txBox="1"/>
          <p:nvPr/>
        </p:nvSpPr>
        <p:spPr>
          <a:xfrm>
            <a:off x="8096250" y="2571750"/>
            <a:ext cx="323850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1. 列举具体学习的AI技术或框架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2. 描述参与的代表性AI项目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3. 说明个人在AI转型中的成长路径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4. 展示获得的技能认证或成果</a:t>
            </a:r>
          </a:p>
        </p:txBody>
      </p:sp>
      <p:sp>
        <p:nvSpPr>
          <p:cNvPr id="16" name="dsl:page-num|s=$caption"/>
          <p:cNvSpPr txBox="1"/>
          <p:nvPr/>
        </p:nvSpPr>
        <p:spPr>
          <a:xfrm>
            <a:off x="110490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cent"/>
          <p:cNvSpPr/>
          <p:nvPr/>
        </p:nvSpPr>
        <p:spPr>
          <a:xfrm>
            <a:off x="3429000" y="361950"/>
            <a:ext cx="76200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1|s=$nav"/>
          <p:cNvSpPr txBox="1"/>
          <p:nvPr/>
        </p:nvSpPr>
        <p:spPr>
          <a:xfrm>
            <a:off x="5715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01 岗位认知</a:t>
            </a:r>
          </a:p>
        </p:txBody>
      </p:sp>
      <p:sp>
        <p:nvSpPr>
          <p:cNvPr id="5" name="dsl:nav-2|s=$nav"/>
          <p:cNvSpPr txBox="1"/>
          <p:nvPr/>
        </p:nvSpPr>
        <p:spPr>
          <a:xfrm>
            <a:off x="1905000" y="0"/>
            <a:ext cx="1333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02 AI能力提升</a:t>
            </a:r>
          </a:p>
        </p:txBody>
      </p:sp>
      <p:sp>
        <p:nvSpPr>
          <p:cNvPr id="6" name="dsl:nav-3|s=$nav"/>
          <p:cNvSpPr txBox="1"/>
          <p:nvPr/>
        </p:nvSpPr>
        <p:spPr>
          <a:xfrm>
            <a:off x="34290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FFFFFF"/>
                </a:solidFill>
                <a:latin typeface="Liter"/>
                <a:ea typeface="MiSans"/>
              </a:rPr>
              <a:t>03 典型案例</a:t>
            </a:r>
          </a:p>
        </p:txBody>
      </p:sp>
      <p:sp>
        <p:nvSpPr>
          <p:cNvPr id="7" name="dsl:nav-4|s=$nav"/>
          <p:cNvSpPr txBox="1"/>
          <p:nvPr/>
        </p:nvSpPr>
        <p:spPr>
          <a:xfrm>
            <a:off x="47625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04 答辩交流</a:t>
            </a:r>
          </a:p>
        </p:txBody>
      </p:sp>
      <p:sp>
        <p:nvSpPr>
          <p:cNvPr id="8" name="dsl:page-title|s=$pageTitle"/>
          <p:cNvSpPr txBox="1"/>
          <p:nvPr/>
        </p:nvSpPr>
        <p:spPr>
          <a:xfrm>
            <a:off x="571500" y="571500"/>
            <a:ext cx="476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MiSans"/>
              </a:rPr>
              <a:t>03 典型案例</a:t>
            </a:r>
          </a:p>
        </p:txBody>
      </p:sp>
      <p:cxnSp>
        <p:nvCxnSpPr>
          <p:cNvPr id="9" name="dsl:title-line"/>
          <p:cNvCxnSpPr/>
          <p:nvPr/>
        </p:nvCxnSpPr>
        <p:spPr>
          <a:xfrm>
            <a:off x="571500" y="1047750"/>
            <a:ext cx="571500" cy="0"/>
          </a:xfrm>
          <a:prstGeom prst="straightConnector1">
            <a:avLst/>
          </a:prstGeom>
          <a:ln w="38100">
            <a:solidFill>
              <a:srgbClr val="0EA5E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intro-text|s=$body"/>
          <p:cNvSpPr txBox="1"/>
          <p:nvPr/>
        </p:nvSpPr>
        <p:spPr>
          <a:xfrm>
            <a:off x="571500" y="1238250"/>
            <a:ext cx="11049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针对每个案例（建议1-3个），按以下</a:t>
            </a:r>
            <a:r>
              <a:rPr b="1" sz="1350" noProof="1">
                <a:solidFill>
                  <a:srgbClr val="1E293B"/>
                </a:solidFill>
                <a:latin typeface="Liter"/>
                <a:ea typeface="MiSans"/>
              </a:rPr>
              <a:t>四段式结构</a:t>
            </a: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进行阐述：</a:t>
            </a:r>
          </a:p>
        </p:txBody>
      </p:sp>
      <p:sp>
        <p:nvSpPr>
          <p:cNvPr id="11" name="dsl:step1-bg"/>
          <p:cNvSpPr/>
          <p:nvPr/>
        </p:nvSpPr>
        <p:spPr>
          <a:xfrm>
            <a:off x="571500" y="2000250"/>
            <a:ext cx="5334000" cy="209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step1-bar"/>
          <p:cNvSpPr/>
          <p:nvPr/>
        </p:nvSpPr>
        <p:spPr>
          <a:xfrm>
            <a:off x="571500" y="2000250"/>
            <a:ext cx="28575" cy="20955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step1-num|s=$number"/>
          <p:cNvSpPr txBox="1"/>
          <p:nvPr/>
        </p:nvSpPr>
        <p:spPr>
          <a:xfrm>
            <a:off x="762000" y="2143125"/>
            <a:ext cx="571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3.1</a:t>
            </a:r>
          </a:p>
        </p:txBody>
      </p:sp>
      <p:sp>
        <p:nvSpPr>
          <p:cNvPr id="14" name="dsl:step1-title|s=$subtitle"/>
          <p:cNvSpPr txBox="1"/>
          <p:nvPr/>
        </p:nvSpPr>
        <p:spPr>
          <a:xfrm>
            <a:off x="1333500" y="2143125"/>
            <a:ext cx="438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案例背景与目标</a:t>
            </a:r>
          </a:p>
        </p:txBody>
      </p:sp>
      <p:sp>
        <p:nvSpPr>
          <p:cNvPr id="15" name="dsl:step1-content|s=$body"/>
          <p:cNvSpPr txBox="1"/>
          <p:nvPr/>
        </p:nvSpPr>
        <p:spPr>
          <a:xfrm>
            <a:off x="762000" y="2571750"/>
            <a:ext cx="49530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简述项目要解决的核心业务问题或抓住的市场机会。明确项目的核心目标（尤其是AI要达成的具体效果）。</a:t>
            </a:r>
          </a:p>
        </p:txBody>
      </p:sp>
      <p:sp>
        <p:nvSpPr>
          <p:cNvPr id="16" name="dsl:step2-bg"/>
          <p:cNvSpPr/>
          <p:nvPr/>
        </p:nvSpPr>
        <p:spPr>
          <a:xfrm>
            <a:off x="6286500" y="2000250"/>
            <a:ext cx="5334000" cy="209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tep2-bar"/>
          <p:cNvSpPr/>
          <p:nvPr/>
        </p:nvSpPr>
        <p:spPr>
          <a:xfrm>
            <a:off x="6286500" y="2000250"/>
            <a:ext cx="28575" cy="20955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step2-num|s=$number"/>
          <p:cNvSpPr txBox="1"/>
          <p:nvPr/>
        </p:nvSpPr>
        <p:spPr>
          <a:xfrm>
            <a:off x="6477000" y="2143125"/>
            <a:ext cx="571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3.2</a:t>
            </a:r>
          </a:p>
        </p:txBody>
      </p:sp>
      <p:sp>
        <p:nvSpPr>
          <p:cNvPr id="19" name="dsl:step2-title|s=$subtitle"/>
          <p:cNvSpPr txBox="1"/>
          <p:nvPr/>
        </p:nvSpPr>
        <p:spPr>
          <a:xfrm>
            <a:off x="7048500" y="2143125"/>
            <a:ext cx="438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项目全链路与能力映射</a:t>
            </a:r>
          </a:p>
        </p:txBody>
      </p:sp>
      <p:sp>
        <p:nvSpPr>
          <p:cNvPr id="20" name="dsl:step2-content|s=$body"/>
          <p:cNvSpPr txBox="1"/>
          <p:nvPr/>
        </p:nvSpPr>
        <p:spPr>
          <a:xfrm>
            <a:off x="6477000" y="2571750"/>
            <a:ext cx="49530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清晰、完整地拆解项目的流程。将流程中的每个关键环节，与能力标准进行一一对应。在对应位置标注能力项名称即可。</a:t>
            </a:r>
          </a:p>
        </p:txBody>
      </p:sp>
      <p:sp>
        <p:nvSpPr>
          <p:cNvPr id="21" name="dsl:hint-bg"/>
          <p:cNvSpPr/>
          <p:nvPr/>
        </p:nvSpPr>
        <p:spPr>
          <a:xfrm>
            <a:off x="571500" y="4381500"/>
            <a:ext cx="11049000" cy="9525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hint-bar"/>
          <p:cNvSpPr/>
          <p:nvPr/>
        </p:nvSpPr>
        <p:spPr>
          <a:xfrm>
            <a:off x="571500" y="4381500"/>
            <a:ext cx="28575" cy="952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dsl:hint-icon|i=fas:exclamation-triangle" descr="tmp38w4f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hint-text|s=$body"/>
          <p:cNvSpPr txBox="1"/>
          <p:nvPr/>
        </p:nvSpPr>
        <p:spPr>
          <a:xfrm>
            <a:off x="1190625" y="4476750"/>
            <a:ext cx="101917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350" noProof="1">
                <a:solidFill>
                  <a:srgbClr val="1E293B"/>
                </a:solidFill>
                <a:latin typeface="Liter"/>
                <a:ea typeface="MiSans"/>
              </a:rPr>
              <a:t>提示：</a:t>
            </a: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请在此页补充具体案例的背景、目标、全链路与能力映射。建议准备1-3个典型案例，重点放在与AI能力直接相关的项目。</a:t>
            </a:r>
          </a:p>
        </p:txBody>
      </p:sp>
      <p:sp>
        <p:nvSpPr>
          <p:cNvPr id="25" name="dsl:page-num|s=$caption"/>
          <p:cNvSpPr txBox="1"/>
          <p:nvPr/>
        </p:nvSpPr>
        <p:spPr>
          <a:xfrm>
            <a:off x="110490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cent"/>
          <p:cNvSpPr/>
          <p:nvPr/>
        </p:nvSpPr>
        <p:spPr>
          <a:xfrm>
            <a:off x="3429000" y="361950"/>
            <a:ext cx="76200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1|s=$nav"/>
          <p:cNvSpPr txBox="1"/>
          <p:nvPr/>
        </p:nvSpPr>
        <p:spPr>
          <a:xfrm>
            <a:off x="5715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01 岗位认知</a:t>
            </a:r>
          </a:p>
        </p:txBody>
      </p:sp>
      <p:sp>
        <p:nvSpPr>
          <p:cNvPr id="5" name="dsl:nav-2|s=$nav"/>
          <p:cNvSpPr txBox="1"/>
          <p:nvPr/>
        </p:nvSpPr>
        <p:spPr>
          <a:xfrm>
            <a:off x="1905000" y="0"/>
            <a:ext cx="1333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02 AI能力提升</a:t>
            </a:r>
          </a:p>
        </p:txBody>
      </p:sp>
      <p:sp>
        <p:nvSpPr>
          <p:cNvPr id="6" name="dsl:nav-3|s=$nav"/>
          <p:cNvSpPr txBox="1"/>
          <p:nvPr/>
        </p:nvSpPr>
        <p:spPr>
          <a:xfrm>
            <a:off x="34290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>
                <a:solidFill>
                  <a:srgbClr val="FFFFFF"/>
                </a:solidFill>
                <a:latin typeface="Liter"/>
                <a:ea typeface="MiSans"/>
              </a:rPr>
              <a:t>03 典型案例</a:t>
            </a:r>
          </a:p>
        </p:txBody>
      </p:sp>
      <p:sp>
        <p:nvSpPr>
          <p:cNvPr id="7" name="dsl:nav-4|s=$nav"/>
          <p:cNvSpPr txBox="1"/>
          <p:nvPr/>
        </p:nvSpPr>
        <p:spPr>
          <a:xfrm>
            <a:off x="4762500" y="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Liter"/>
                <a:ea typeface="MiSans"/>
              </a:rPr>
              <a:t>04 答辩交流</a:t>
            </a:r>
          </a:p>
        </p:txBody>
      </p:sp>
      <p:sp>
        <p:nvSpPr>
          <p:cNvPr id="8" name="dsl:page-title|s=$pageTitle"/>
          <p:cNvSpPr txBox="1"/>
          <p:nvPr/>
        </p:nvSpPr>
        <p:spPr>
          <a:xfrm>
            <a:off x="571500" y="571500"/>
            <a:ext cx="476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MiSans"/>
              </a:rPr>
              <a:t>03 典型案例（续）</a:t>
            </a:r>
          </a:p>
        </p:txBody>
      </p:sp>
      <p:cxnSp>
        <p:nvCxnSpPr>
          <p:cNvPr id="9" name="dsl:title-line"/>
          <p:cNvCxnSpPr/>
          <p:nvPr/>
        </p:nvCxnSpPr>
        <p:spPr>
          <a:xfrm>
            <a:off x="571500" y="1047750"/>
            <a:ext cx="571500" cy="0"/>
          </a:xfrm>
          <a:prstGeom prst="straightConnector1">
            <a:avLst/>
          </a:prstGeom>
          <a:ln w="38100">
            <a:solidFill>
              <a:srgbClr val="0EA5E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card1-bg"/>
          <p:cNvSpPr/>
          <p:nvPr/>
        </p:nvSpPr>
        <p:spPr>
          <a:xfrm>
            <a:off x="571500" y="1333500"/>
            <a:ext cx="11049000" cy="15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ard1-bar"/>
          <p:cNvSpPr/>
          <p:nvPr/>
        </p:nvSpPr>
        <p:spPr>
          <a:xfrm>
            <a:off x="571500" y="1333500"/>
            <a:ext cx="28575" cy="1524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1-num|s=$number"/>
          <p:cNvSpPr txBox="1"/>
          <p:nvPr/>
        </p:nvSpPr>
        <p:spPr>
          <a:xfrm>
            <a:off x="809625" y="1476375"/>
            <a:ext cx="571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3.3</a:t>
            </a:r>
          </a:p>
        </p:txBody>
      </p:sp>
      <p:sp>
        <p:nvSpPr>
          <p:cNvPr id="13" name="dsl:card1-title|s=$subtitle"/>
          <p:cNvSpPr txBox="1"/>
          <p:nvPr/>
        </p:nvSpPr>
        <p:spPr>
          <a:xfrm>
            <a:off x="1476375" y="1476375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AI专属贡献与产出</a:t>
            </a:r>
          </a:p>
        </p:txBody>
      </p:sp>
      <p:sp>
        <p:nvSpPr>
          <p:cNvPr id="14" name="dsl:card1-content|s=$body"/>
          <p:cNvSpPr txBox="1"/>
          <p:nvPr/>
        </p:nvSpPr>
        <p:spPr>
          <a:xfrm>
            <a:off x="809625" y="1905000"/>
            <a:ext cx="105727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明确列出具体的、可衡量的AI相关产出物（如：核心Prompt集、评估报告、工作流设计文档等，也可列出token消耗等AI使用数据）。</a:t>
            </a:r>
          </a:p>
        </p:txBody>
      </p:sp>
      <p:sp>
        <p:nvSpPr>
          <p:cNvPr id="15" name="dsl:card2-bg"/>
          <p:cNvSpPr/>
          <p:nvPr/>
        </p:nvSpPr>
        <p:spPr>
          <a:xfrm>
            <a:off x="571500" y="3048000"/>
            <a:ext cx="11049000" cy="15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card2-bar"/>
          <p:cNvSpPr/>
          <p:nvPr/>
        </p:nvSpPr>
        <p:spPr>
          <a:xfrm>
            <a:off x="571500" y="3048000"/>
            <a:ext cx="28575" cy="1524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card2-num|s=$number"/>
          <p:cNvSpPr txBox="1"/>
          <p:nvPr/>
        </p:nvSpPr>
        <p:spPr>
          <a:xfrm>
            <a:off x="809625" y="3190875"/>
            <a:ext cx="571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3.4</a:t>
            </a:r>
          </a:p>
        </p:txBody>
      </p:sp>
      <p:sp>
        <p:nvSpPr>
          <p:cNvPr id="18" name="dsl:card2-title|s=$subtitle"/>
          <p:cNvSpPr txBox="1"/>
          <p:nvPr/>
        </p:nvSpPr>
        <p:spPr>
          <a:xfrm>
            <a:off x="1476375" y="3190875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成果与效果验证</a:t>
            </a:r>
          </a:p>
        </p:txBody>
      </p:sp>
      <p:sp>
        <p:nvSpPr>
          <p:cNvPr id="19" name="dsl:card2-content|s=$body"/>
          <p:cNvSpPr txBox="1"/>
          <p:nvPr/>
        </p:nvSpPr>
        <p:spPr>
          <a:xfrm>
            <a:off x="809625" y="3619500"/>
            <a:ext cx="105727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用量化数据或事实说明项目最终达成的业务成果或技术效果，说明项目带来的长期价值/复用潜力。（以量化数据为最优）</a:t>
            </a:r>
          </a:p>
        </p:txBody>
      </p:sp>
      <p:sp>
        <p:nvSpPr>
          <p:cNvPr id="20" name="dsl:card3-bg"/>
          <p:cNvSpPr/>
          <p:nvPr/>
        </p:nvSpPr>
        <p:spPr>
          <a:xfrm>
            <a:off x="571500" y="4762500"/>
            <a:ext cx="11049000" cy="133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card3-bar"/>
          <p:cNvSpPr/>
          <p:nvPr/>
        </p:nvSpPr>
        <p:spPr>
          <a:xfrm>
            <a:off x="571500" y="4762500"/>
            <a:ext cx="28575" cy="13335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card3-num|s=$number"/>
          <p:cNvSpPr txBox="1"/>
          <p:nvPr/>
        </p:nvSpPr>
        <p:spPr>
          <a:xfrm>
            <a:off x="809625" y="4905375"/>
            <a:ext cx="571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EA5E9"/>
                </a:solidFill>
                <a:latin typeface="Liter"/>
                <a:ea typeface="MiSans"/>
              </a:rPr>
              <a:t>3.5</a:t>
            </a:r>
          </a:p>
        </p:txBody>
      </p:sp>
      <p:sp>
        <p:nvSpPr>
          <p:cNvPr id="23" name="dsl:card3-title|s=$subtitle"/>
          <p:cNvSpPr txBox="1"/>
          <p:nvPr/>
        </p:nvSpPr>
        <p:spPr>
          <a:xfrm>
            <a:off x="1476375" y="4905375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E3A5F"/>
                </a:solidFill>
                <a:latin typeface="Liter"/>
                <a:ea typeface="MiSans"/>
              </a:rPr>
              <a:t>知识资产沉淀</a:t>
            </a:r>
          </a:p>
        </p:txBody>
      </p:sp>
      <p:sp>
        <p:nvSpPr>
          <p:cNvPr id="24" name="dsl:card3-content|s=$body"/>
          <p:cNvSpPr txBox="1"/>
          <p:nvPr/>
        </p:nvSpPr>
        <p:spPr>
          <a:xfrm>
            <a:off x="809625" y="5334000"/>
            <a:ext cx="10572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E293B"/>
                </a:solidFill>
                <a:latin typeface="Liter"/>
                <a:ea typeface="MiSans"/>
              </a:rPr>
              <a:t>对组织知识资产沉淀的贡献。说明对于AI知识库建设（知识、技能、规则等）的贡献，如SKILL库、AI工作流、MCP库、开发规范等。</a:t>
            </a:r>
          </a:p>
        </p:txBody>
      </p:sp>
      <p:sp>
        <p:nvSpPr>
          <p:cNvPr id="25" name="dsl:page-num|s=$caption"/>
          <p:cNvSpPr txBox="1"/>
          <p:nvPr/>
        </p:nvSpPr>
        <p:spPr>
          <a:xfrm>
            <a:off x="110490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deco-rect1"/>
          <p:cNvSpPr/>
          <p:nvPr/>
        </p:nvSpPr>
        <p:spPr>
          <a:xfrm>
            <a:off x="476250" y="1428750"/>
            <a:ext cx="1428750" cy="3810000"/>
          </a:xfrm>
          <a:prstGeom prst="rect">
            <a:avLst/>
          </a:prstGeom>
          <a:solidFill>
            <a:srgbClr val="0EA5E9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eco-rect2"/>
          <p:cNvSpPr/>
          <p:nvPr/>
        </p:nvSpPr>
        <p:spPr>
          <a:xfrm>
            <a:off x="10287000" y="952500"/>
            <a:ext cx="1428750" cy="3333750"/>
          </a:xfrm>
          <a:prstGeom prst="rect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hanks"/>
          <p:cNvSpPr txBox="1"/>
          <p:nvPr/>
        </p:nvSpPr>
        <p:spPr>
          <a:xfrm>
            <a:off x="2286000" y="238125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300" noProof="1" spc="300">
                <a:solidFill>
                  <a:srgbClr val="FFFFFF"/>
                </a:solidFill>
                <a:latin typeface="Liter"/>
                <a:ea typeface="MiSans"/>
              </a:rPr>
              <a:t>感谢聆听</a:t>
            </a:r>
          </a:p>
        </p:txBody>
      </p:sp>
      <p:cxnSp>
        <p:nvCxnSpPr>
          <p:cNvPr id="5" name="dsl:divider"/>
          <p:cNvCxnSpPr/>
          <p:nvPr/>
        </p:nvCxnSpPr>
        <p:spPr>
          <a:xfrm>
            <a:off x="5143500" y="3143250"/>
            <a:ext cx="1905000" cy="0"/>
          </a:xfrm>
          <a:prstGeom prst="straightConnector1">
            <a:avLst/>
          </a:prstGeom>
          <a:ln w="25400">
            <a:solidFill>
              <a:srgbClr val="0EA5E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brand"/>
          <p:cNvSpPr txBox="1"/>
          <p:nvPr/>
        </p:nvSpPr>
        <p:spPr>
          <a:xfrm>
            <a:off x="3238500" y="34290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FFFFF"/>
                </a:solidFill>
                <a:latin typeface="Liter"/>
                <a:ea typeface="MiSans"/>
              </a:rPr>
              <a:t>关注朗新 · 了解更多能源科技资讯</a:t>
            </a:r>
          </a:p>
        </p:txBody>
      </p:sp>
      <p:sp>
        <p:nvSpPr>
          <p:cNvPr id="7" name="dsl:page-num|s=$caption"/>
          <p:cNvSpPr txBox="1"/>
          <p:nvPr/>
        </p:nvSpPr>
        <p:spPr>
          <a:xfrm>
            <a:off x="110490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MiSan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E3A5F"/>
    <Color name="secondary" value="#64748B"/>
    <Color name="accent" value="#0EA5E9"/>
    <Color name="background" value="#F1F5F9"/>
    <Color name="text" value="#1E293B"/>
    <Color name="dark" value="#0F172A"/>
    <Color name="cardBg" value="#FFFFFF"/>
    <Color name="lightBorder" value="#E2E8F0"/>
  </Colors>
  <TextStyles>
    <TextStyle name="title" font_size="40.0" color="#FFFFFF" font_family="Liter, MiSans" letter_spacing="2.0"/>
    <TextStyle name="pageTitle" font_size="28.0" color="$primary" font_family="Liter, MiSans" line_height="1.3"/>
    <TextStyle name="subtitle" font_size="20.0" color="$primary" font_family="Liter, MiSans" line_height="1.3"/>
    <TextStyle name="body" font_size="18.0" color="$text" font_family="Liter, MiSans" line_height="1.6"/>
    <TextStyle name="nav" font_size="14.0" color="#FFFFFF" font_family="Liter, MiSans"/>
    <TextStyle name="caption" font_size="14.0" color="$secondary" font_family="Liter, MiSans" line_height="1.4"/>
    <TextStyle name="number" font_size="36.0" color="$accent" font_family="Liter, MiSans"/>
  </TextStyles>
  <TableStyles>
    <TableStyle name="default" fontSize="16.0" fontFamily="Liter, MiSans" headerFill="$primary" headerColor="#FFFFFF" headerBold="true" bodyFill="#FFFFFF,#F8FAFC" bodyColor="$text" firstColumnBold="false">
      <Border style="solid" width="1.0" color="$lightBorder"/>
    </TableStyle>
  </TableStyles>
</DslMetadata>
</file>

<file path=customXml/itemProps1.xml><?xml version="1.0" encoding="utf-8"?>
<ns0:datastoreItem xmlns:ns0="http://schemas.openxmlformats.org/officeDocument/2006/customXml" ns0:itemID="{FFF35B78-ABB5-4B8C-8DC9-4B67FFE950E6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